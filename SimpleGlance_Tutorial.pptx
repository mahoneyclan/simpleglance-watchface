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344"/>
            <a:ext cx="12188952" cy="73152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8000"/>
                </a:solidFill>
              </a:rPr>
              <a:t>SimpleGlance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Watch Face — Code Tutorial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A guided walkthrough of WatchFaceView.mc</a:t>
            </a:r>
          </a:p>
        </p:txBody>
      </p:sp>
      <p:sp>
        <p:nvSpPr>
          <p:cNvPr id="8" name="Oval 7"/>
          <p:cNvSpPr/>
          <p:nvPr/>
        </p:nvSpPr>
        <p:spPr>
          <a:xfrm>
            <a:off x="4937760" y="4114800"/>
            <a:ext cx="2286000" cy="2286000"/>
          </a:xfrm>
          <a:prstGeom prst="ellipse">
            <a:avLst/>
          </a:prstGeom>
          <a:noFill/>
          <a:ln w="635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Garmin Fenix 6  •  MonkeyC  •  Connect IQ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What We'll Cover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914400"/>
            <a:ext cx="502920" cy="50292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5097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Project structure &amp; language basics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5681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Class skeleton &amp; lifecycle methods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626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Settings system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684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onUpdate() — the draw loop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937760"/>
            <a:ext cx="502920" cy="50292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743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Battery arc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914400"/>
            <a:ext cx="502920" cy="50292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914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95097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Date &amp; time rendering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95681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Bottom activity bar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2926080"/>
            <a:ext cx="502920" cy="50292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926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9626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Side panels — HR &amp; Notifications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3931920"/>
            <a:ext cx="502920" cy="50292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9684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Icon drawing primitives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1 · 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760720" cy="58521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5486400" cy="5632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ourier New"/>
              </a:rPr>
              <a:t>simpleglance-watchface/</a:t>
            </a:r>
          </a:p>
          <a:p>
            <a:pPr algn="l"/>
            <a:r>
              <a:rPr sz="1400">
                <a:solidFill>
                  <a:srgbClr val="888888"/>
                </a:solidFill>
                <a:latin typeface="Courier New"/>
              </a:rPr>
              <a:t>  source/</a:t>
            </a:r>
          </a:p>
          <a:p>
            <a:pPr algn="l"/>
            <a:r>
              <a:rPr sz="1400">
                <a:solidFill>
                  <a:srgbClr val="FF8000"/>
                </a:solidFill>
                <a:latin typeface="Courier New"/>
              </a:rPr>
              <a:t>    WatchFaceView.mc    ← all drawing logic</a:t>
            </a:r>
          </a:p>
          <a:p>
            <a:pPr algn="l"/>
            <a:r>
              <a:rPr sz="1400">
                <a:solidFill>
                  <a:srgbClr val="CED4DB"/>
                </a:solidFill>
                <a:latin typeface="Courier New"/>
              </a:rPr>
              <a:t>    WatchFaceApp.mc     ← app entry point</a:t>
            </a:r>
          </a:p>
          <a:p>
            <a:pPr algn="l"/>
            <a:r>
              <a:rPr sz="1400">
                <a:solidFill>
                  <a:srgbClr val="888888"/>
                </a:solidFill>
                <a:latin typeface="Courier New"/>
              </a:rPr>
              <a:t>  resources/</a:t>
            </a:r>
          </a:p>
          <a:p>
            <a:pPr algn="l"/>
            <a:r>
              <a:rPr sz="1400">
                <a:solidFill>
                  <a:srgbClr val="888888"/>
                </a:solidFill>
                <a:latin typeface="Courier New"/>
              </a:rPr>
              <a:t>    settings/</a:t>
            </a:r>
          </a:p>
          <a:p>
            <a:pPr algn="l"/>
            <a:r>
              <a:rPr sz="1400">
                <a:solidFill>
                  <a:srgbClr val="CED4DB"/>
                </a:solidFill>
                <a:latin typeface="Courier New"/>
              </a:rPr>
              <a:t>      properties.xml   ← default values</a:t>
            </a:r>
          </a:p>
          <a:p>
            <a:pPr algn="l"/>
            <a:r>
              <a:rPr sz="1400">
                <a:solidFill>
                  <a:srgbClr val="CED4DB"/>
                </a:solidFill>
                <a:latin typeface="Courier New"/>
              </a:rPr>
              <a:t>      settings.xml     ← Garmin Connect UI</a:t>
            </a:r>
          </a:p>
          <a:p>
            <a:pPr algn="l"/>
            <a:r>
              <a:rPr sz="1400">
                <a:solidFill>
                  <a:srgbClr val="CED4DB"/>
                </a:solidFill>
                <a:latin typeface="Courier New"/>
              </a:rPr>
              <a:t>    strings/strings.xml</a:t>
            </a:r>
          </a:p>
          <a:p>
            <a:pPr algn="l"/>
            <a:r>
              <a:rPr sz="1400">
                <a:solidFill>
                  <a:srgbClr val="CED4DB"/>
                </a:solidFill>
                <a:latin typeface="Courier New"/>
              </a:rPr>
              <a:t>    fonts/              ← custom TimeFont</a:t>
            </a:r>
          </a:p>
          <a:p>
            <a:pPr algn="l"/>
            <a:r>
              <a:rPr sz="1400">
                <a:solidFill>
                  <a:srgbClr val="CED4DB"/>
                </a:solidFill>
                <a:latin typeface="Courier New"/>
              </a:rPr>
              <a:t>  manifest.xml          ← app metadata, version</a:t>
            </a:r>
          </a:p>
          <a:p>
            <a:pPr algn="l"/>
            <a:r>
              <a:rPr sz="1400">
                <a:solidFill>
                  <a:srgbClr val="00AA00"/>
                </a:solidFill>
                <a:latin typeface="Courier New"/>
              </a:rPr>
              <a:t>  bin/garminwatchface.iq ← compiled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640080"/>
            <a:ext cx="5394960" cy="5852160"/>
          </a:xfrm>
          <a:prstGeom prst="rect">
            <a:avLst/>
          </a:prstGeom>
          <a:solidFill>
            <a:srgbClr val="16213E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7498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000"/>
                </a:solidFill>
              </a:rPr>
              <a:t>MonkeyC Language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23444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Garmin's proprietary scripting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54533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Java-like syntax, runs on watch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562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Strongly typed with type annotations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671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Compiled to .iq bytecode by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7802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Classes extend Toybox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8892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99815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000"/>
                </a:solidFill>
              </a:rPr>
              <a:t>Key Toybox modules used: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410711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D4DB"/>
                </a:solidFill>
              </a:rPr>
              <a:t>  Graphics   — dc (drawing context)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21607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D4DB"/>
                </a:solidFill>
              </a:rPr>
              <a:t>  System     — clock, stats,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032503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D4DB"/>
                </a:solidFill>
              </a:rPr>
              <a:t>  ActivityMonitor — steps, HR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43399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D4DB"/>
                </a:solidFill>
              </a:rPr>
              <a:t>  Activity   — live workout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654295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D4DB"/>
                </a:solidFill>
              </a:rPr>
              <a:t>  SensorHistory   — elevation, etc.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965191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D4DB"/>
                </a:solidFill>
              </a:rPr>
              <a:t>  Application.Properties — user prefs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276087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D4DB"/>
                </a:solidFill>
              </a:rPr>
              <a:t>  WatchUi    — base WatchFace 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2 · Class Skeleton &amp;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6766560" cy="502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6492240" cy="4809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69CD6"/>
                </a:solidFill>
                <a:latin typeface="Courier New"/>
              </a:rPr>
              <a:t>class WatchFaceView extends WatchUi.WatchFace {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6A9955"/>
                </a:solidFill>
                <a:latin typeface="Courier New"/>
              </a:rPr>
              <a:t>    // Private state — layout &amp; cached settings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    private var _screenWidth as Number = 260;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    private var _font  as FontReference or Null;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    private var _bgColor, _hourColor, _minColor …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    private var _leftField, _rightField, _arcLabel…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DCDCAA"/>
                </a:solidFill>
                <a:latin typeface="Courier New"/>
              </a:rPr>
              <a:t>    function initialize()   { WatchFace.initialize(); }</a:t>
            </a:r>
          </a:p>
          <a:p>
            <a:pPr algn="l"/>
            <a:r>
              <a:rPr sz="1300">
                <a:solidFill>
                  <a:srgbClr val="DCDCAA"/>
                </a:solidFill>
                <a:latin typeface="Courier New"/>
              </a:rPr>
              <a:t>    function onLayout(dc)   { /* measure screen */ }</a:t>
            </a:r>
          </a:p>
          <a:p>
            <a:pPr algn="l"/>
            <a:r>
              <a:rPr sz="1300">
                <a:solidFill>
                  <a:srgbClr val="DCDCAA"/>
                </a:solidFill>
                <a:latin typeface="Courier New"/>
              </a:rPr>
              <a:t>    function onShow()       { loadSettings(); }</a:t>
            </a:r>
          </a:p>
          <a:p>
            <a:pPr algn="l"/>
            <a:r>
              <a:rPr sz="1300">
                <a:solidFill>
                  <a:srgbClr val="DCDCAA"/>
                </a:solidFill>
                <a:latin typeface="Courier New"/>
              </a:rPr>
              <a:t>    function onSettingsChanged() { loadSettings(); }</a:t>
            </a:r>
          </a:p>
          <a:p>
            <a:pPr algn="l"/>
            <a:r>
              <a:rPr sz="1300">
                <a:solidFill>
                  <a:srgbClr val="FF8000"/>
                </a:solidFill>
                <a:latin typeface="Courier New"/>
              </a:rPr>
              <a:t>    function onUpdate(dc)   { /* MAIN DRAW LOOP */ }</a:t>
            </a:r>
          </a:p>
          <a:p>
            <a:pPr algn="l"/>
            <a:r>
              <a:rPr sz="1300">
                <a:solidFill>
                  <a:srgbClr val="DCDCAA"/>
                </a:solidFill>
                <a:latin typeface="Courier New"/>
              </a:rPr>
              <a:t>    function onHide()       { }</a:t>
            </a:r>
          </a:p>
          <a:p>
            <a:pPr algn="l"/>
            <a:r>
              <a:rPr sz="1300">
                <a:solidFill>
                  <a:srgbClr val="569CD6"/>
                </a:solidFill>
                <a:latin typeface="Courier New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640080"/>
            <a:ext cx="4389120" cy="50292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74980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000"/>
                </a:solidFill>
              </a:rPr>
              <a:t>Lifecycle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234440"/>
            <a:ext cx="1828800" cy="347472"/>
          </a:xfrm>
          <a:prstGeom prst="rect">
            <a:avLst/>
          </a:prstGeom>
          <a:solidFill>
            <a:srgbClr val="2A2A4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16952" y="1271016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000"/>
                </a:solidFill>
              </a:rPr>
              <a:t>initialize()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2893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B"/>
                </a:solidFill>
              </a:rPr>
              <a:t>Called once at startup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581912"/>
            <a:ext cx="274320" cy="13716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801368"/>
            <a:ext cx="1828800" cy="347472"/>
          </a:xfrm>
          <a:prstGeom prst="rect">
            <a:avLst/>
          </a:prstGeom>
          <a:solidFill>
            <a:srgbClr val="2A2A4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1837944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000"/>
                </a:solidFill>
              </a:rPr>
              <a:t>onLayout(dc)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18562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B"/>
                </a:solidFill>
              </a:rPr>
              <a:t>Screen dimensions 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148840"/>
            <a:ext cx="274320" cy="13716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2368296"/>
            <a:ext cx="1828800" cy="347472"/>
          </a:xfrm>
          <a:prstGeom prst="rect">
            <a:avLst/>
          </a:prstGeom>
          <a:solidFill>
            <a:srgbClr val="2A2A4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24048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000"/>
                </a:solidFill>
              </a:rPr>
              <a:t>onShow()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4231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B"/>
                </a:solidFill>
              </a:rPr>
              <a:t>Face is visible → load settings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2715768"/>
            <a:ext cx="274320" cy="13716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2935224"/>
            <a:ext cx="1828800" cy="347472"/>
          </a:xfrm>
          <a:prstGeom prst="rect">
            <a:avLst/>
          </a:prstGeom>
          <a:solidFill>
            <a:srgbClr val="2A2A4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2" y="297180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000"/>
                </a:solidFill>
              </a:rPr>
              <a:t>onUpdate(dc)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9900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B"/>
                </a:solidFill>
              </a:rPr>
              <a:t>Every second (or on demand)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3502152"/>
            <a:ext cx="1828800" cy="347472"/>
          </a:xfrm>
          <a:prstGeom prst="rect">
            <a:avLst/>
          </a:prstGeom>
          <a:solidFill>
            <a:srgbClr val="2A2A4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6952" y="353872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000"/>
                </a:solidFill>
              </a:rPr>
              <a:t>onSettingsChanged()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5570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B"/>
                </a:solidFill>
              </a:rPr>
              <a:t>User changed prefs in 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4069080"/>
            <a:ext cx="1828800" cy="347472"/>
          </a:xfrm>
          <a:prstGeom prst="rect">
            <a:avLst/>
          </a:prstGeom>
          <a:solidFill>
            <a:srgbClr val="2A2A4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52" y="4105656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000"/>
                </a:solidFill>
              </a:rPr>
              <a:t>onHide()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41239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B"/>
                </a:solidFill>
              </a:rPr>
              <a:t>Face hidden / switched 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6817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↑ repeats every second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3 · Settings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000"/>
                </a:solidFill>
              </a:rPr>
              <a:t>properties.xml — default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303520" cy="21488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69848"/>
            <a:ext cx="5029200" cy="1929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&lt;property id="BgColor"    type="number"&gt;0x000000&lt;/property&gt;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&lt;property id="HourColor"  type="number"&gt;0xFFFFFF&lt;/property&gt;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&lt;property id="MinColor"   type="number"&gt;0xFF8000&lt;/property&gt;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&lt;property id="LeftField"  type="number"&gt;1&lt;/property&gt;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&lt;property id="RightField" type="number"&gt;4&lt;/property&gt;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&lt;property id="Use24h"     type="boolean"&gt;false&lt;/property&gt;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&lt;property id="ArcLabel"   type="number"&gt;0&lt;/property&gt;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000"/>
                </a:solidFill>
              </a:rPr>
              <a:t>loadSettings() — cache into instance vars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5303520" cy="29718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675887"/>
            <a:ext cx="5029200" cy="2752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69CD6"/>
                </a:solidFill>
                <a:latin typeface="Courier New"/>
              </a:rPr>
              <a:t>private function loadSettings() as Void {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_bgColor   = Properties.getValue("BgColor");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_hourColor = Properties.getValue("HourColor");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_leftField = Properties.getValue("LeftField");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_use24h    = Properties.getValue("Use24h");</a:t>
            </a:r>
          </a:p>
          <a:p>
            <a:pPr algn="l"/>
            <a:r>
              <a:rPr sz="1200">
                <a:solidFill>
                  <a:srgbClr val="6A9955"/>
                </a:solidFill>
                <a:latin typeface="Courier New"/>
              </a:rPr>
              <a:t>  // derive fg/dim from bg luminance: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var dark = isDark(_bgColor);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_fgColor  = dark ? COLOR_WHITE : COLOR_BLACK;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_dimColor = dark ? COLOR_DK_GRAY : COLOR_LT_GRAY;</a:t>
            </a:r>
          </a:p>
          <a:p>
            <a:pPr algn="l"/>
            <a:r>
              <a:rPr sz="1200">
                <a:solidFill>
                  <a:srgbClr val="569CD6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943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000"/>
                </a:solidFill>
              </a:rPr>
              <a:t>settings.xml — Garmin Connect Mobile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960120"/>
            <a:ext cx="576072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069848"/>
            <a:ext cx="5486400" cy="2980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&lt;setting propertyKey="@Properties.BgColor"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       title="@Strings.SettingBgColor"&gt;</a:t>
            </a:r>
          </a:p>
          <a:p>
            <a:pPr algn="l"/>
            <a:r>
              <a:rPr sz="1200">
                <a:solidFill>
                  <a:srgbClr val="569CD6"/>
                </a:solidFill>
                <a:latin typeface="Courier New"/>
              </a:rPr>
              <a:t>  &lt;settingConfig type="list"&gt;</a:t>
            </a:r>
          </a:p>
          <a:p>
            <a:pPr algn="l"/>
            <a:r>
              <a:rPr sz="1200">
                <a:solidFill>
                  <a:srgbClr val="CE9178"/>
                </a:solidFill>
                <a:latin typeface="Courier New"/>
              </a:rPr>
              <a:t>    &lt;listEntry value="0x000000"&gt;Black&lt;/…&gt;</a:t>
            </a:r>
          </a:p>
          <a:p>
            <a:pPr algn="l"/>
            <a:r>
              <a:rPr sz="1200">
                <a:solidFill>
                  <a:srgbClr val="CE9178"/>
                </a:solidFill>
                <a:latin typeface="Courier New"/>
              </a:rPr>
              <a:t>    &lt;listEntry value="0xFFFFFF"&gt;White&lt;/…&gt;</a:t>
            </a:r>
          </a:p>
          <a:p>
            <a:pPr algn="l"/>
            <a:r>
              <a:rPr sz="1200">
                <a:solidFill>
                  <a:srgbClr val="569CD6"/>
                </a:solidFill>
                <a:latin typeface="Courier New"/>
              </a:rPr>
              <a:t>  &lt;/settingConfig&gt;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&lt;/setting&gt;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&lt;setting propertyKey="@Properties.Use24h"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       title="@Strings.SettingUse24h"&gt;</a:t>
            </a:r>
          </a:p>
          <a:p>
            <a:pPr algn="l"/>
            <a:r>
              <a:rPr sz="1200">
                <a:solidFill>
                  <a:srgbClr val="569CD6"/>
                </a:solidFill>
                <a:latin typeface="Courier New"/>
              </a:rPr>
              <a:t>  &lt;settingConfig type="boolean" /&gt;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&lt;/setting&gt;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297680"/>
            <a:ext cx="5760720" cy="2194560"/>
          </a:xfrm>
          <a:prstGeom prst="rect">
            <a:avLst/>
          </a:prstGeom>
          <a:solidFill>
            <a:srgbClr val="16213E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4074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isDark() — adaptive foreground color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773168"/>
            <a:ext cx="5577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Converts 0xRRGGBB → perceived luminance using the
ITU-R BT.601 formula:  Y = 0.299R + 0.587G + 0.114B
If Y &lt; 128 the background is dark → use white text.
This auto-adjusts labels &amp; borders for any bg colour.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4 · onUpdate() — The Draw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640080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6126480" cy="3255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69CD6"/>
                </a:solidFill>
                <a:latin typeface="Courier New"/>
              </a:rPr>
              <a:t>function onUpdate(dc as Dc) as Void {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    dc.setColor(_bgColor, _bgColor);</a:t>
            </a:r>
          </a:p>
          <a:p>
            <a:pPr algn="l"/>
            <a:r>
              <a:rPr sz="1300">
                <a:solidFill>
                  <a:srgbClr val="6A9955"/>
                </a:solidFill>
                <a:latin typeface="Courier New"/>
              </a:rPr>
              <a:t>    dc.clear();                      // wipe display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8000"/>
                </a:solidFill>
                <a:latin typeface="Courier New"/>
              </a:rPr>
              <a:t>    drawBatteryArc(dc);              // arc at top</a:t>
            </a:r>
          </a:p>
          <a:p>
            <a:pPr algn="l"/>
            <a:r>
              <a:rPr sz="1300">
                <a:solidFill>
                  <a:srgbClr val="DCDCAA"/>
                </a:solidFill>
                <a:latin typeface="Courier New"/>
              </a:rPr>
              <a:t>    drawDate(dc);                    // SAT 20 MAY</a:t>
            </a:r>
          </a:p>
          <a:p>
            <a:pPr algn="l"/>
            <a:r>
              <a:rPr sz="1300">
                <a:solidFill>
                  <a:srgbClr val="DCDCAA"/>
                </a:solidFill>
                <a:latin typeface="Courier New"/>
              </a:rPr>
              <a:t>    drawTime(dc);                    // HH:MM + panels</a:t>
            </a:r>
          </a:p>
          <a:p>
            <a:pPr algn="l"/>
            <a:r>
              <a:rPr sz="1300">
                <a:solidFill>
                  <a:srgbClr val="DCDCAA"/>
                </a:solidFill>
                <a:latin typeface="Courier New"/>
              </a:rPr>
              <a:t>    drawBottomBar(dc);               // steps • floors</a:t>
            </a:r>
          </a:p>
          <a:p>
            <a:pPr algn="l"/>
            <a:r>
              <a:rPr sz="1300">
                <a:solidFill>
                  <a:srgbClr val="569CD6"/>
                </a:solidFill>
                <a:latin typeface="Courier New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594360"/>
            <a:ext cx="4663440" cy="6035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685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Screen Layout (260×260 px)</a:t>
            </a:r>
          </a:p>
        </p:txBody>
      </p:sp>
      <p:sp>
        <p:nvSpPr>
          <p:cNvPr id="8" name="Oval 7"/>
          <p:cNvSpPr/>
          <p:nvPr/>
        </p:nvSpPr>
        <p:spPr>
          <a:xfrm>
            <a:off x="7955279" y="1097280"/>
            <a:ext cx="3017520" cy="301752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1188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8000"/>
                </a:solidFill>
              </a:rPr>
              <a:t>Battery Arc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600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ED4DB"/>
                </a:solidFill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965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  HH :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965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AA00"/>
                </a:solidFill>
              </a:rPr>
              <a:t>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1965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AA00"/>
                </a:solidFill>
              </a:rPr>
              <a:t>Notif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ED4DB"/>
                </a:solidFill>
              </a:rPr>
              <a:t>Steps • Floors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0" y="4343400"/>
            <a:ext cx="292608" cy="292608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3434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36168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clear() — fill entire face with background color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4727448"/>
            <a:ext cx="292608" cy="292608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7274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74573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drawBatteryArc() — renders first (behind everything)</a:t>
            </a:r>
          </a:p>
        </p:txBody>
      </p:sp>
      <p:sp>
        <p:nvSpPr>
          <p:cNvPr id="21" name="Oval 20"/>
          <p:cNvSpPr/>
          <p:nvPr/>
        </p:nvSpPr>
        <p:spPr>
          <a:xfrm>
            <a:off x="7223760" y="5111496"/>
            <a:ext cx="292608" cy="292608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51114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129783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drawDate() — small text at top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0" y="5495544"/>
            <a:ext cx="292608" cy="292608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549554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5513831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drawTime() — large digits + side panels</a:t>
            </a:r>
          </a:p>
        </p:txBody>
      </p:sp>
      <p:sp>
        <p:nvSpPr>
          <p:cNvPr id="27" name="Oval 26"/>
          <p:cNvSpPr/>
          <p:nvPr/>
        </p:nvSpPr>
        <p:spPr>
          <a:xfrm>
            <a:off x="7223760" y="5879592"/>
            <a:ext cx="292608" cy="292608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58795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897879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drawBottomBar() — activity stats at bottom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5 · Battery Arc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6492240" cy="59436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6217920" cy="5724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69CD6"/>
                </a:solidFill>
                <a:latin typeface="Courier New"/>
              </a:rPr>
              <a:t>private function drawBatteryArc(dc) {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var stats   = System.getSystemStats();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var battPct = stats.battery.toNumber(); // 0-100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var r       = (_screenWidth / 2) - 7;  // 123px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6A9955"/>
                </a:solidFill>
                <a:latin typeface="Courier New"/>
              </a:rPr>
              <a:t>  // 1. Draw dim track (full 150°→30° span)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dc.setPenWidth(8);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dc.setColor(_dimColor, TRANSPARENT);</a:t>
            </a:r>
          </a:p>
          <a:p>
            <a:pPr algn="l"/>
            <a:r>
              <a:rPr sz="1200">
                <a:solidFill>
                  <a:srgbClr val="DCDCAA"/>
                </a:solidFill>
                <a:latin typeface="Courier New"/>
              </a:rPr>
              <a:t>  dc.drawArc(cx, cy, r, ARC_CCW, 30, 150);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6A9955"/>
                </a:solidFill>
                <a:latin typeface="Courier New"/>
              </a:rPr>
              <a:t>  // 2. Draw coloured fill proportional to charge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var battCol = battPct &gt; 50  ? COLOR_GREEN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           : battPct &gt;= 25 ? COLOR_ORANGE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           :                 COLOR_RED;</a:t>
            </a:r>
          </a:p>
          <a:p>
            <a:pPr algn="l"/>
            <a:r>
              <a:rPr sz="1200">
                <a:solidFill>
                  <a:srgbClr val="FF8000"/>
                </a:solidFill>
                <a:latin typeface="Courier New"/>
              </a:rPr>
              <a:t>  var endAngle = 30 + battPct * 120 / 100;</a:t>
            </a:r>
          </a:p>
          <a:p>
            <a:pPr algn="l"/>
            <a:r>
              <a:rPr sz="1200">
                <a:solidFill>
                  <a:srgbClr val="DCDCAA"/>
                </a:solidFill>
                <a:latin typeface="Courier New"/>
              </a:rPr>
              <a:t>  dc.drawArc(cx, cy, r, ARC_CCW, 30, endAngle);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6A9955"/>
                </a:solidFill>
                <a:latin typeface="Courier New"/>
              </a:rPr>
              <a:t>  // 3. Optional label (%, days)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  if (_arcLabel != ARCLABEL_NONE) { … }</a:t>
            </a:r>
          </a:p>
          <a:p>
            <a:pPr algn="l"/>
            <a:r>
              <a:rPr sz="1200">
                <a:solidFill>
                  <a:srgbClr val="569CD6"/>
                </a:solidFill>
                <a:latin typeface="Courier New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621792"/>
            <a:ext cx="4663440" cy="59436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731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000"/>
                </a:solidFill>
              </a:rPr>
              <a:t>Arc Geometry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188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Coordinate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463040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Garmin uses degrees: 0°=right, 90°=top,
180°=left, 270°=bottom (counter-clockwise).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1762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Track spans 10 o'clock→2 o'clock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450591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150° (top-left) to 30° (top-right).
Total arc = 120°.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16382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Fill anchored at 30° (empty side)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3438144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endAngle = 30 + battPct × 120 / 100
Full charge → endAngle = 150°.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1513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Colour thresholds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4425696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&gt; 50% → Green
25–50% → Orange
&lt; 25% → 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389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Optional 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5413248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Drawn at the top of the arc.
ARCLABEL_PCT → "72%"
ARCLABEL_DAYS → "9d" (batteryInDays)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6 · Date &amp; Time Rendering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000"/>
                </a:solidFill>
              </a:rPr>
              <a:t>drawDate()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4864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5212080" cy="2340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var now = Gregorian.info(Time.now(), FORMAT_SHORT);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var days   = ["SUN","MON","TUE"…];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var months = ["JAN","FEB","MAR"…];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var dateStr = format("$1$ $2$ $3$", [</a:t>
            </a:r>
          </a:p>
          <a:p>
            <a:pPr algn="l"/>
            <a:r>
              <a:rPr sz="1200">
                <a:solidFill>
                  <a:srgbClr val="6A9955"/>
                </a:solidFill>
                <a:latin typeface="Courier New"/>
              </a:rPr>
              <a:t>    days[now.day_of_week - 1],   // "WED"</a:t>
            </a:r>
          </a:p>
          <a:p>
            <a:pPr algn="l"/>
            <a:r>
              <a:rPr sz="1200">
                <a:solidFill>
                  <a:srgbClr val="6A9955"/>
                </a:solidFill>
                <a:latin typeface="Courier New"/>
              </a:rPr>
              <a:t>    now.day.format("%d"),       // "04"</a:t>
            </a:r>
          </a:p>
          <a:p>
            <a:pPr algn="l"/>
            <a:r>
              <a:rPr sz="1200">
                <a:solidFill>
                  <a:srgbClr val="6A9955"/>
                </a:solidFill>
                <a:latin typeface="Courier New"/>
              </a:rPr>
              <a:t>    months[now.month - 1]]);     // "JUN"</a:t>
            </a:r>
          </a:p>
          <a:p>
            <a:pPr algn="l"/>
            <a:r>
              <a:rPr sz="1200">
                <a:solidFill>
                  <a:srgbClr val="DCDCAA"/>
                </a:solidFill>
                <a:latin typeface="Courier New"/>
              </a:rPr>
              <a:t>dc.drawText(cx, 43, FONT_MEDIUM, dateStr, CENTER);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000"/>
                </a:solidFill>
              </a:rPr>
              <a:t>drawTime() — two-tone digits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5486400" cy="278892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041648"/>
            <a:ext cx="5212080" cy="25694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A9955"/>
                </a:solidFill>
                <a:latin typeface="Courier New"/>
              </a:rPr>
              <a:t>// Compute text widths to centre the pair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var hrW  = dc.getTextDimensions(hrStr, font)[0];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var minW = dc.getTextDimensions(minStr, font)[0];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var totalW = hrW + colonGap + minW;</a:t>
            </a:r>
          </a:p>
          <a:p>
            <a:pPr algn="l"/>
            <a:r>
              <a:rPr sz="1200">
                <a:solidFill>
                  <a:srgbClr val="FF8000"/>
                </a:solidFill>
                <a:latin typeface="Courier New"/>
              </a:rPr>
              <a:t>var hrX    = cx - totalW / 2;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dc.setColor(_hourColor, TRANSPARENT);</a:t>
            </a:r>
          </a:p>
          <a:p>
            <a:pPr algn="l"/>
            <a:r>
              <a:rPr sz="1200">
                <a:solidFill>
                  <a:srgbClr val="DCDCAA"/>
                </a:solidFill>
                <a:latin typeface="Courier New"/>
              </a:rPr>
              <a:t>dc.drawText(hrX, y, font, hrStr, LEFT);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dc.setColor(_minColor, TRANSPARENT);</a:t>
            </a:r>
          </a:p>
          <a:p>
            <a:pPr algn="l"/>
            <a:r>
              <a:rPr sz="1200">
                <a:solidFill>
                  <a:srgbClr val="DCDCAA"/>
                </a:solidFill>
                <a:latin typeface="Courier New"/>
              </a:rPr>
              <a:t>dc.drawText(minX, y, font, minStr, LEFT);</a:t>
            </a:r>
          </a:p>
          <a:p>
            <a:pPr algn="l"/>
            <a:r>
              <a:rPr sz="1200">
                <a:solidFill>
                  <a:srgbClr val="6A9955"/>
                </a:solidFill>
                <a:latin typeface="Courier New"/>
              </a:rPr>
              <a:t>// Two filled circles for the colon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dc.fillCircle(colonX, y - 20, 7);</a:t>
            </a:r>
          </a:p>
          <a:p>
            <a:pPr algn="l"/>
            <a:r>
              <a:rPr sz="1200">
                <a:solidFill>
                  <a:srgbClr val="CED4DB"/>
                </a:solidFill>
                <a:latin typeface="Courier New"/>
              </a:rPr>
              <a:t>dc.fillCircle(colonX, y + 20, 7);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621792"/>
            <a:ext cx="5577840" cy="6035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731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000"/>
                </a:solidFill>
              </a:rPr>
              <a:t>Centering Two-Color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430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D4DB"/>
                </a:solidFill>
              </a:rPr>
              <a:t>Because the hour and minute digits are different colours,
they can't be drawn as a single string. We must:
  1. Measure both strings individually with
     getTextDimensions().
  2. Compute the combined width including colon gap.
  3. Calculate hrX = centerX − totalWidth / 2  so the
     whole block is horizontally centred.
  4. Draw hours at hrX, minutes at hrX + hrW + gap.
The colon is two filled circles drawn at the midpoint
between the two digit groups — hardware-efficient.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349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000"/>
                </a:solidFill>
              </a:rPr>
              <a:t>Custom font loaded once in onLayout():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669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_font = WatchUi.loadResource(Rez.Fonts.TimeFont);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7 · Bottom Activity 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5394960" cy="292608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5120640" cy="2706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69CD6"/>
                </a:solidFill>
                <a:latin typeface="Courier New"/>
              </a:rPr>
              <a:t>private function drawBottomBar(dc) {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  var actInfo = ActivityMonitor.getInfo();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  var l = fieldValue(_leftField,  actInfo);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  var r = fieldValue(_rightField, actInfo);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  var text = (l.length()&gt;0 &amp;&amp; r.length()&gt;0)</a:t>
            </a:r>
          </a:p>
          <a:p>
            <a:pPr algn="l"/>
            <a:r>
              <a:rPr sz="1300">
                <a:solidFill>
                  <a:srgbClr val="FF8000"/>
                </a:solidFill>
                <a:latin typeface="Courier New"/>
              </a:rPr>
              <a:t>           ? l + " • " + r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           : (l.length()&gt;0 ? l : r);</a:t>
            </a:r>
          </a:p>
          <a:p>
            <a:pPr algn="l"/>
            <a:r>
              <a:rPr sz="1300">
                <a:solidFill>
                  <a:srgbClr val="DCDCAA"/>
                </a:solidFill>
                <a:latin typeface="Courier New"/>
              </a:rPr>
              <a:t>  dc.drawText(cx, 228, FONT_SMALL, text, CENTER);</a:t>
            </a:r>
          </a:p>
          <a:p>
            <a:pPr algn="l"/>
            <a:r>
              <a:rPr sz="1300">
                <a:solidFill>
                  <a:srgbClr val="569CD6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000"/>
                </a:solidFill>
              </a:rPr>
              <a:t>fieldValue() — what each FIELD_* returns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41648"/>
            <a:ext cx="5394960" cy="26060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000"/>
                </a:solidFill>
              </a:rPr>
              <a:t>Const     Val  Source                   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5394960" cy="329184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171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FIELD_STEPS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5171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9178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5171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actInfo.steps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45171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A00"/>
                </a:solidFill>
              </a:rPr>
              <a:t>"4.2k stp" or "850 stp"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28032"/>
            <a:ext cx="539496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646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FIELD_CALORIES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864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9178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8646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actInfo.calories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864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A00"/>
                </a:solidFill>
              </a:rPr>
              <a:t>"1840 cal"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75504"/>
            <a:ext cx="5394960" cy="329184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FIELD_DISTANCE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5212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9178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actInfo.distance / 100000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5212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A00"/>
                </a:solidFill>
              </a:rPr>
              <a:t>"8.4 km"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22976"/>
            <a:ext cx="539496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59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FIELD_FLOORS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5595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9178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559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actInfo.floorsClimbed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55595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A00"/>
                </a:solidFill>
              </a:rPr>
              <a:t>"3 fl"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70448"/>
            <a:ext cx="5394960" cy="329184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9070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FIELD_ACTIVE_MIN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9070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9178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9070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actInfo.activeMinutesDay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59070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A00"/>
                </a:solidFill>
              </a:rPr>
              <a:t>"42 min"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217920"/>
            <a:ext cx="539496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2544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FIELD_ELEVATION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6254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9178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62544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SensorHistory.getElevation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2544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A00"/>
                </a:solidFill>
              </a:rPr>
              <a:t>"328 m"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621792"/>
            <a:ext cx="5760720" cy="6035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000"/>
                </a:solidFill>
              </a:rPr>
              <a:t>Data Sources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ActivityMonitor.getInfo()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1463040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Returns a snapshot of the user's daily activity.
Refreshed every minute by the OS. Null-safe fields.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286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FIELD_ELEVATION special case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560320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Uses SensorHistory, not ActivityMonitor.
Must check hasattr before calling — API not present
on all devices / firmware versions.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383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Formatting logic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657600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Steps ≥ 1000 → compact "4.2k stp" form.
Distance: raw value is centimetres → ÷ 100 000 = km.
All values fall back to "--" if null.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480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Two-field layout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754880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Left and right fields joined with " • " separator.
If one is FIELD_NONE it is omitted — the remaining
field centres itself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8 · Side Panels — HR &amp; Notifications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6675120" cy="598932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6400800" cy="5769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>
                <a:solidFill>
                  <a:srgbClr val="6A9955"/>
                </a:solidFill>
                <a:latin typeface="Courier New"/>
              </a:rPr>
              <a:t>// HR panel: open on left (no left border)</a:t>
            </a:r>
          </a:p>
          <a:p>
            <a:pPr algn="l"/>
            <a:r>
              <a:rPr sz="1150">
                <a:solidFill>
                  <a:srgbClr val="569CD6"/>
                </a:solidFill>
                <a:latin typeface="Courier New"/>
              </a:rPr>
              <a:t>private function drawHRPanel(dc, cx, cy) {</a:t>
            </a:r>
          </a:p>
          <a:p>
            <a:pPr algn="l"/>
            <a:r>
              <a:rPr sz="1150">
                <a:solidFill>
                  <a:srgbClr val="6A9955"/>
                </a:solidFill>
                <a:latin typeface="Courier New"/>
              </a:rPr>
              <a:t>  // 1. Blank out area behind panel</a:t>
            </a:r>
          </a:p>
          <a:p>
            <a:pPr algn="l"/>
            <a:r>
              <a:rPr sz="1150">
                <a:solidFill>
                  <a:srgbClr val="CED4DB"/>
                </a:solidFill>
                <a:latin typeface="Courier New"/>
              </a:rPr>
              <a:t>  dc.fillRectangle(x, y, boxW, boxH);</a:t>
            </a:r>
          </a:p>
          <a:p>
            <a:pPr algn="l"/>
            <a:r>
              <a:rPr sz="1150">
                <a:solidFill>
                  <a:srgbClr val="6A9955"/>
                </a:solidFill>
                <a:latin typeface="Courier New"/>
              </a:rPr>
              <a:t>  // 2. Draw 3-sided rounded border</a:t>
            </a:r>
          </a:p>
          <a:p>
            <a:pPr algn="l"/>
            <a:r>
              <a:rPr sz="1150">
                <a:solidFill>
                  <a:srgbClr val="CED4DB"/>
                </a:solidFill>
                <a:latin typeface="Courier New"/>
              </a:rPr>
              <a:t>  dc.drawLine(top_edge); dc.drawArc(top_right_corner);</a:t>
            </a:r>
          </a:p>
          <a:p>
            <a:pPr algn="l"/>
            <a:r>
              <a:rPr sz="1150">
                <a:solidFill>
                  <a:srgbClr val="CED4DB"/>
                </a:solidFill>
                <a:latin typeface="Courier New"/>
              </a:rPr>
              <a:t>  dc.drawLine(right_edge); dc.drawArc(bottom_right);</a:t>
            </a:r>
          </a:p>
          <a:p>
            <a:pPr algn="l"/>
            <a:r>
              <a:rPr sz="1150">
                <a:solidFill>
                  <a:srgbClr val="CED4DB"/>
                </a:solidFill>
                <a:latin typeface="Courier New"/>
              </a:rPr>
              <a:t>  dc.drawLine(bottom_edge);</a:t>
            </a:r>
          </a:p>
          <a:p>
            <a:pPr algn="l"/>
            <a:r>
              <a:rPr sz="1150">
                <a:solidFill>
                  <a:srgbClr val="6A9955"/>
                </a:solidFill>
                <a:latin typeface="Courier New"/>
              </a:rPr>
              <a:t>  // 3. Draw heart icon straddling top border</a:t>
            </a:r>
          </a:p>
          <a:p>
            <a:pPr algn="l"/>
            <a:r>
              <a:rPr sz="1150">
                <a:solidFill>
                  <a:srgbClr val="DCDCAA"/>
                </a:solidFill>
                <a:latin typeface="Courier New"/>
              </a:rPr>
              <a:t>  drawMiniHeart(dc, cx, y);</a:t>
            </a:r>
          </a:p>
          <a:p>
            <a:pPr algn="l"/>
            <a:r>
              <a:rPr sz="1150">
                <a:solidFill>
                  <a:srgbClr val="6A9955"/>
                </a:solidFill>
                <a:latin typeface="Courier New"/>
              </a:rPr>
              <a:t>  // 4. Read HR — live workout first, then history</a:t>
            </a:r>
          </a:p>
          <a:p>
            <a:pPr algn="l"/>
            <a:r>
              <a:rPr sz="1150">
                <a:solidFill>
                  <a:srgbClr val="CED4DB"/>
                </a:solidFill>
                <a:latin typeface="Courier New"/>
              </a:rPr>
              <a:t>  var actInfo = Activity.getActivityInfo();</a:t>
            </a:r>
          </a:p>
          <a:p>
            <a:pPr algn="l"/>
            <a:r>
              <a:rPr sz="1150">
                <a:solidFill>
                  <a:srgbClr val="CED4DB"/>
                </a:solidFill>
                <a:latin typeface="Courier New"/>
              </a:rPr>
              <a:t>  if (actInfo != null &amp;&amp; actInfo.currentHeartRate != null) {</a:t>
            </a:r>
          </a:p>
          <a:p>
            <a:pPr algn="l"/>
            <a:r>
              <a:rPr sz="1150">
                <a:solidFill>
                  <a:srgbClr val="CED4DB"/>
                </a:solidFill>
                <a:latin typeface="Courier New"/>
              </a:rPr>
              <a:t>      hrStr = actInfo.currentHeartRate.toString();</a:t>
            </a:r>
          </a:p>
          <a:p>
            <a:pPr algn="l"/>
            <a:r>
              <a:rPr sz="1150">
                <a:solidFill>
                  <a:srgbClr val="CED4DB"/>
                </a:solidFill>
                <a:latin typeface="Courier New"/>
              </a:rPr>
              <a:t>  } else if (ActivityMonitor has :getHeartRateHistory) {</a:t>
            </a:r>
          </a:p>
          <a:p>
            <a:pPr algn="l"/>
            <a:r>
              <a:rPr sz="1150">
                <a:solidFill>
                  <a:srgbClr val="CED4DB"/>
                </a:solidFill>
                <a:latin typeface="Courier New"/>
              </a:rPr>
              <a:t>      var sample = getHeartRateHistory(1, true).next();</a:t>
            </a:r>
          </a:p>
          <a:p>
            <a:pPr algn="l"/>
            <a:r>
              <a:rPr sz="1150">
                <a:solidFill>
                  <a:srgbClr val="CED4DB"/>
                </a:solidFill>
                <a:latin typeface="Courier New"/>
              </a:rPr>
              <a:t>      if (sample.heartRate != INVALID_HR_SAMPLE) {</a:t>
            </a:r>
          </a:p>
          <a:p>
            <a:pPr algn="l"/>
            <a:r>
              <a:rPr sz="1150">
                <a:solidFill>
                  <a:srgbClr val="CED4DB"/>
                </a:solidFill>
                <a:latin typeface="Courier New"/>
              </a:rPr>
              <a:t>          hrStr = sample.heartRate.toString();</a:t>
            </a:r>
          </a:p>
          <a:p>
            <a:pPr algn="l"/>
            <a:r>
              <a:rPr sz="1150">
                <a:solidFill>
                  <a:srgbClr val="569CD6"/>
                </a:solidFill>
                <a:latin typeface="Courier New"/>
              </a:rPr>
              <a:t>  } }</a:t>
            </a:r>
          </a:p>
          <a:p>
            <a:pPr algn="l"/>
            <a:r>
              <a:rPr sz="1150">
                <a:solidFill>
                  <a:srgbClr val="DCDCAA"/>
                </a:solidFill>
                <a:latin typeface="Courier New"/>
              </a:rPr>
              <a:t>  dc.drawText(cx, midY, FONT_SMALL, hrStr, CENTER);</a:t>
            </a:r>
          </a:p>
          <a:p>
            <a:pPr algn="l"/>
            <a:r>
              <a:rPr sz="1150">
                <a:solidFill>
                  <a:srgbClr val="569CD6"/>
                </a:solidFill>
                <a:latin typeface="Courier New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621792"/>
            <a:ext cx="4480560" cy="59893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731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000"/>
                </a:solidFill>
              </a:rPr>
              <a:t>Design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1887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Panel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46304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Both boxes are 34×52 px. Each is 3-sided:
HR panel opens LEFT (time digits bleed in).
Notif panel opens RIGHT.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24942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fillRectangle()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523744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Erases whatever the time digits drew behind
the panel area — order matters.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3101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HR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584448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Activity (live) &gt; ActivityMonitor history.
This mirrors the crystal-face pattern and
works at rest and during workouts.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43708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INVALID_HR_SAMPLE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645152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0xFFFF (65535) is the sentinel for 'no reading'.
Must skip these to find the last valid BPM.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543153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Notification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5705856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System.getDeviceSettings().notificationCount
Returns an Integer — drawn as-is (no icon).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9 · Icon Drawing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000"/>
                </a:solidFill>
              </a:rPr>
              <a:t>drawMiniHeart()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303520" cy="26060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69848"/>
            <a:ext cx="5029200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dc.fillCircle(cx-3, cy-4, 3);   // left lobe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dc.fillCircle(cx+3, cy-4, 3);   // right lobe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dc.fillRectangle(cx-5,cy-2,11,2);// bridge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dc.fillRectangle(cx-4,cy,  9,2);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dc.fillRectangle(cx-3,cy+2, 7,2);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dc.fillRectangle(cx-2,cy+4, 5,2);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dc.fillRectangle(cx-1,cy+6, 3,1);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dc.fillCircle(cx,  cy+7, 1);     // tip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000"/>
                </a:solidFill>
              </a:rPr>
              <a:t>drawMiniBell()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69080"/>
            <a:ext cx="5303520" cy="29718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178808"/>
            <a:ext cx="5029200" cy="2752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6A9955"/>
                </a:solidFill>
                <a:latin typeface="Courier New"/>
              </a:rPr>
              <a:t>// Bell dome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dc.fillCircle(cx, cy-2, 5);</a:t>
            </a:r>
          </a:p>
          <a:p>
            <a:pPr algn="l"/>
            <a:r>
              <a:rPr sz="1300">
                <a:solidFill>
                  <a:srgbClr val="6A9955"/>
                </a:solidFill>
                <a:latin typeface="Courier New"/>
              </a:rPr>
              <a:t>// Erase lower half of dome (flat bottom edge)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dc.setColor(_bgColor, TRANSPARENT);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dc.fillRectangle(cx-6, cy-2, 12, 6);</a:t>
            </a:r>
          </a:p>
          <a:p>
            <a:pPr algn="l"/>
            <a:r>
              <a:rPr sz="1300">
                <a:solidFill>
                  <a:srgbClr val="6A9955"/>
                </a:solidFill>
                <a:latin typeface="Courier New"/>
              </a:rPr>
              <a:t>// Redraw body &amp; rim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dc.setColor(_fgColor, TRANSPARENT);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dc.fillRectangle(cx-5, cy-2, 10, 5);  // body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dc.fillRectangle(cx-6, cy+3, 12, 2);  // rim</a:t>
            </a:r>
          </a:p>
          <a:p>
            <a:pPr algn="l"/>
            <a:r>
              <a:rPr sz="1300">
                <a:solidFill>
                  <a:srgbClr val="CED4DB"/>
                </a:solidFill>
                <a:latin typeface="Courier New"/>
              </a:rPr>
              <a:t>dc.fillCircle(cx, cy+7, 2);            // clapper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621792"/>
            <a:ext cx="5760720" cy="6035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000"/>
                </a:solidFill>
              </a:rPr>
              <a:t>Why Pixel Art, Not Vector?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4864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D4DB"/>
                </a:solidFill>
              </a:rPr>
              <a:t>Garmin watch faces can't load PNG icons directly — the
Graphics API only provides primitive draw calls:
  fillCircle(x, y, radius)
  fillRectangle(x, y, w, h)
  drawArc(x, y, r, dir, startAngle, endAngle)
  drawLine(x1, y1, x2, y2)
Icons are built by compositing these primitives at
pixel scale (~16 px tall). The technique is:
  1. Draw the filled positive shape in _fgColor.
  2. Punch holes by painting _bgColor over parts
     of the shape (erase-by-overpainting).
  3. Redraw foreground on top to restore detail.
The bell uses this erase trick to flatten its dome.
Icons straddle the panel top border (cy = border y)
so they visually 'sit on' the box 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</a:rPr>
              <a:t>Summary — Quick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2011680" cy="347472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621792"/>
            <a:ext cx="2331720" cy="347472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667512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621792"/>
            <a:ext cx="4114800" cy="347472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6675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Key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969264"/>
            <a:ext cx="201168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969264"/>
            <a:ext cx="233172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969264"/>
            <a:ext cx="411480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0241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onLayout(dc)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024128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Screen size, load font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102412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dc.getWidth(), loadResource()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316736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1316736"/>
            <a:ext cx="23317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316736"/>
            <a:ext cx="411480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37160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onShow()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1371600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Cache settings on appear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137160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Application.Properties.getValue()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664208"/>
            <a:ext cx="201168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1664208"/>
            <a:ext cx="233172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3440" y="1664208"/>
            <a:ext cx="411480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17190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onUpdate(dc)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1719072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Full redraw every second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17190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dc.clear(), drawXxx(dc)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01168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0" y="2011680"/>
            <a:ext cx="23317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63440" y="2011680"/>
            <a:ext cx="411480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0665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loadSettings()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2066544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Pull prefs → instance vars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59" y="206654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Properties.getValue(), isDark()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2359152"/>
            <a:ext cx="201168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2359152"/>
            <a:ext cx="233172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3440" y="2359152"/>
            <a:ext cx="411480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241401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drawBatteryArc()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2414016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Top arc, colour by charge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59" y="241401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System.getSystemStats(), drawArc()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2706624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0" y="2706624"/>
            <a:ext cx="23317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63440" y="2706624"/>
            <a:ext cx="411480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27614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drawDate()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2761488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SAT 04 JUN header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59" y="276148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Gregorian.info(), drawText()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054096"/>
            <a:ext cx="201168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0" y="3054096"/>
            <a:ext cx="233172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63440" y="3054096"/>
            <a:ext cx="411480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31089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drawTime()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3108960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Two-tone HH:MM + colon dots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59" y="310896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getTextDimensions(), fillCircle()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3401568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86000" y="3401568"/>
            <a:ext cx="23317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63440" y="3401568"/>
            <a:ext cx="411480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34564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drawBottomBar()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1720" y="3456432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Activity stats row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59" y="345643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ActivityMonitor.getInfo()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3749039"/>
            <a:ext cx="201168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86000" y="3749039"/>
            <a:ext cx="233172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63440" y="3749039"/>
            <a:ext cx="411480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3803903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drawHRPanel()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1720" y="3803903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Left panel, HR value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59" y="3803903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Activity + ActivityMonitor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4096512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286000" y="4096512"/>
            <a:ext cx="23317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63440" y="4096512"/>
            <a:ext cx="411480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415137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drawNotifPanel()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31720" y="4151376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Right panel, notif count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59" y="415137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System.getDeviceSettings()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4443983"/>
            <a:ext cx="201168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286000" y="4443983"/>
            <a:ext cx="233172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663440" y="4443983"/>
            <a:ext cx="411480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449884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fieldValue()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31720" y="4498847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Format any FIELD_* constant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09159" y="4498847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SensorHistory, ActivityMonitor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4791456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286000" y="4791456"/>
            <a:ext cx="23317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663440" y="4791456"/>
            <a:ext cx="411480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484632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drawMiniHeart()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31720" y="4846320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Pixel heart icon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9159" y="484632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fillCircle(), fillRectangle()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8600" y="5138928"/>
            <a:ext cx="201168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286000" y="5138928"/>
            <a:ext cx="233172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63440" y="5138928"/>
            <a:ext cx="4114800" cy="34747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4320" y="51937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drawMiniBell()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31720" y="5193792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Pixel bell icon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09159" y="51937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fillCircle(), fillRectangle()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" y="548640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286000" y="5486400"/>
            <a:ext cx="23317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663440" y="5486400"/>
            <a:ext cx="411480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4320" y="554126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DCAA"/>
                </a:solidFill>
              </a:rPr>
              <a:t>isDark(color)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31720" y="5541264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D4DB"/>
                </a:solidFill>
              </a:rPr>
              <a:t>Adaptive text color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09159" y="55412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ITU-R BT.601 luminance formula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06840" y="621792"/>
            <a:ext cx="2971800" cy="6035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144000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000"/>
                </a:solidFill>
              </a:rPr>
              <a:t>Build &amp; Deploy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44000" y="1143000"/>
            <a:ext cx="2743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ED4DB"/>
                </a:solidFill>
              </a:rPr>
              <a:t>Compile:
  monkeyc -o bin/watch.iq
    -f monkey.jungle
    -y developer_key.der
    -d fenix6
Deploy:
  Copy .iq to watch via
  USB → GARMIN/Apps/
After any version bump:
  • Edit manifest.xml
  • Rebuild .iq
  • Keep both in sync!
Settings live in:
  Garmin Connect Mobile
  → My Device
  → Watch Faces
  → SimpleGlance → 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